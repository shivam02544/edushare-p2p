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Credits Earned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Video Uploads</c:v>
                  </c:pt>
                  <c:pt idx="1">
                    <c:v>Notes Uploads</c:v>
                  </c:pt>
                  <c:pt idx="2">
                    <c:v>Live Sessions</c:v>
                  </c:pt>
                  <c:pt idx="3">
                    <c:v>Session Hosting</c:v>
                  </c:pt>
                  <c:pt idx="4">
                    <c:v>Peer Reviews</c:v>
                  </c:pt>
                  <c:pt idx="5">
                    <c:v>Social Shares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4200</c:v>
                </c:pt>
                <c:pt idx="1">
                  <c:v>2800</c:v>
                </c:pt>
                <c:pt idx="2">
                  <c:v>3600</c:v>
                </c:pt>
                <c:pt idx="3">
                  <c:v>3100</c:v>
                </c:pt>
                <c:pt idx="4">
                  <c:v>1500</c:v>
                </c:pt>
                <c:pt idx="5">
                  <c:v>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 Users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  <c:pt idx="6">
                    <c:v>Month 7</c:v>
                  </c:pt>
                  <c:pt idx="7">
                    <c:v>Month 8</c:v>
                  </c:pt>
                  <c:pt idx="8">
                    <c:v>Month 9</c:v>
                  </c:pt>
                  <c:pt idx="9">
                    <c:v>Month 10</c:v>
                  </c:pt>
                  <c:pt idx="10">
                    <c:v>Month 11</c:v>
                  </c:pt>
                  <c:pt idx="11">
                    <c:v>Month 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</c:v>
                </c:pt>
                <c:pt idx="1">
                  <c:v>120</c:v>
                </c:pt>
                <c:pt idx="2">
                  <c:v>250</c:v>
                </c:pt>
                <c:pt idx="3">
                  <c:v>420</c:v>
                </c:pt>
                <c:pt idx="4">
                  <c:v>700</c:v>
                </c:pt>
                <c:pt idx="5">
                  <c:v>1050</c:v>
                </c:pt>
                <c:pt idx="6">
                  <c:v>1500</c:v>
                </c:pt>
                <c:pt idx="7">
                  <c:v>2100</c:v>
                </c:pt>
                <c:pt idx="8">
                  <c:v>2800</c:v>
                </c:pt>
                <c:pt idx="9">
                  <c:v>3600</c:v>
                </c:pt>
                <c:pt idx="10">
                  <c:v>4600</c:v>
                </c:pt>
                <c:pt idx="11">
                  <c:v>6000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Users (MAU)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  <c:pt idx="6">
                    <c:v>Month 7</c:v>
                  </c:pt>
                  <c:pt idx="7">
                    <c:v>Month 8</c:v>
                  </c:pt>
                  <c:pt idx="8">
                    <c:v>Month 9</c:v>
                  </c:pt>
                  <c:pt idx="9">
                    <c:v>Month 10</c:v>
                  </c:pt>
                  <c:pt idx="10">
                    <c:v>Month 11</c:v>
                  </c:pt>
                  <c:pt idx="11">
                    <c:v>Month 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30</c:v>
                </c:pt>
                <c:pt idx="1">
                  <c:v>80</c:v>
                </c:pt>
                <c:pt idx="2">
                  <c:v>160</c:v>
                </c:pt>
                <c:pt idx="3">
                  <c:v>300</c:v>
                </c:pt>
                <c:pt idx="4">
                  <c:v>520</c:v>
                </c:pt>
                <c:pt idx="5">
                  <c:v>800</c:v>
                </c:pt>
                <c:pt idx="6">
                  <c:v>1150</c:v>
                </c:pt>
                <c:pt idx="7">
                  <c:v>1650</c:v>
                </c:pt>
                <c:pt idx="8">
                  <c:v>2200</c:v>
                </c:pt>
                <c:pt idx="9">
                  <c:v>2850</c:v>
                </c:pt>
                <c:pt idx="10">
                  <c:v>3700</c:v>
                </c:pt>
                <c:pt idx="11">
                  <c:v>4900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Content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Video Uploads</c:v>
                </c:pt>
                <c:pt idx="1">
                  <c:v>Notes / PDFs</c:v>
                </c:pt>
                <c:pt idx="2">
                  <c:v>Live Sessions</c:v>
                </c:pt>
                <c:pt idx="3">
                  <c:v>Session Recordings</c:v>
                </c:pt>
                <c:pt idx="4">
                  <c:v>Quizzes / Assessments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</c:v>
                </c:pt>
                <c:pt idx="1">
                  <c:v>28</c:v>
                </c:pt>
                <c:pt idx="2">
                  <c:v>18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EduShare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Technical</c:v>
                  </c:pt>
                  <c:pt idx="1">
                    <c:v>Economic</c:v>
                  </c:pt>
                  <c:pt idx="2">
                    <c:v>Social</c:v>
                  </c:pt>
                  <c:pt idx="3">
                    <c:v>Scalability</c:v>
                  </c:pt>
                  <c:pt idx="4">
                    <c:v>Sustainability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85</c:v>
                </c:pt>
                <c:pt idx="2">
                  <c:v>90</c:v>
                </c:pt>
                <c:pt idx="3">
                  <c:v>80</c:v>
                </c:pt>
                <c:pt idx="4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Traditional LMS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Technical</c:v>
                  </c:pt>
                  <c:pt idx="1">
                    <c:v>Economic</c:v>
                  </c:pt>
                  <c:pt idx="2">
                    <c:v>Social</c:v>
                  </c:pt>
                  <c:pt idx="3">
                    <c:v>Scalability</c:v>
                  </c:pt>
                  <c:pt idx="4">
                    <c:v>Sustainability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55</c:v>
                </c:pt>
                <c:pt idx="2">
                  <c:v>45</c:v>
                </c:pt>
                <c:pt idx="3">
                  <c:v>65</c:v>
                </c:pt>
                <c:pt idx="4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2743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EduShare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Credit-Based Peer-to-Peer Knowledge Exchange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Collaborative Learning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41148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614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TD-PCL Transdisciplinary Project  |  Jain University  |  2025–27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Prabhat Kumar  •  Said Kesson Mariko  •  Kanishka S  •  Dhanush 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Dr Patcha Bhujanga Rao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edu-share-p2p.vercel.app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27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EduShare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95144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2951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62656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9626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630168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630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29768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Impact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96012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Collaboration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1627632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627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Resolutions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2295144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22951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&amp; Growth Strategy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2962656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9626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Statistics &amp; Charts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00600" y="3630168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3630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Roadmap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Gaps in Current Education Systems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Passive Consumption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only consume content from platforms like YouTube &amp; NPTEL — no mechanism to contribute back or teach peers.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73552" y="9601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96012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Zero Incentive to Teach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64992" y="1417320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confirms teaching improves retention by 20–28% (Protégé Effect), yet no platform rewards peer educators.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35624" y="9601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35624" y="96012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Fragmented Knowledge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27064" y="1417320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videos &amp; sessions scattered across WhatsApp, Google Drive and emails — no unified discovery layer.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44752" y="27889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444752" y="278892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36192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High MOOC Drop-out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536192" y="3246120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MOOCs suffer &gt;90% drop-out rates due to lack of social accountability and community interaction.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6824" y="27889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06824" y="278892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98264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Unequal Access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98264" y="3246120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tutoring is expensive. Quality peer knowledge remains locked behind financial barriers.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EduShare — The Proposed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4124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gamified, credit-based P2P learning ecosystem where learners become earners.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1600200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Economy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credits for every upload &amp; session hosted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1234440"/>
            <a:ext cx="2651760" cy="1600200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73552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hosting with attendee tracking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35624" y="1234440"/>
            <a:ext cx="2651760" cy="1600200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35624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35624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27064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searchable peer-created resources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2651760" cy="1600200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148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ranking to motivate contributions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73552" y="3017520"/>
            <a:ext cx="2651760" cy="1600200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73552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📣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73552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64992" y="3886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timeline for knowledge sharing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35624" y="3017520"/>
            <a:ext cx="2651760" cy="1600200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35624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35624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27064" y="3886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analytics — views, downloads, sessions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60120"/>
            <a:ext cx="1645920" cy="347472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48840" y="960120"/>
            <a:ext cx="3474720" cy="347472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0" y="960120"/>
            <a:ext cx="3017520" cy="347472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/ Role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53312"/>
            <a:ext cx="548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5331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48840" y="13533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 + Tailwind 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1353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(Global CDN)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856232"/>
            <a:ext cx="83210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856232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8562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48840" y="18562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Express.js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0" y="1856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/ Lambda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359152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35915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359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48840" y="23591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PostgreSQL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2359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862072"/>
            <a:ext cx="83210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862072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8620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RT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148840" y="28620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(Sorted Sets, Pub-Sub)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2862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Leaderboard &amp; Sessions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364992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364992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36499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148840" y="3364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CDN Streaming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3364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Bitrate Video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3867912"/>
            <a:ext cx="83210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867912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86791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148840" y="3867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HTTP-only Cookies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15000" y="3867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Session Mgmt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4370832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370832"/>
            <a:ext cx="54864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3708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148840" y="43708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+ Docker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4370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 Pipeline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265176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Technical Feasibility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already live &amp; deployed — not theoretical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3113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Vercel: global CDN, zero-downtime deploys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WebSocket-powered live sessions (Socket.io)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58444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HTTP-only cookies for security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96012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960120"/>
            <a:ext cx="26517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98755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Economic Feasibility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5544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infra cost: ₹0–₹2,000/month (free tiers)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223113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marginal cost per user — UGC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64992" y="290779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Monetisation-ready: credits, subscriptions, gating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358444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Sub-linear server cost scaling with user growth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35624" y="96012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35624" y="960120"/>
            <a:ext cx="2651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98755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Social &amp; Educational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27064" y="15544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Protégé Effect: teaching improves retention 20–28%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27064" y="223113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digitally-native college students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7064" y="290779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NEP 2020 collaborative learning goals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27064" y="358444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&gt;90% MOOC dropout with social accountability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Academic Impact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326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Innovation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9326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&amp; Academic Impact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61872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2588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Credit Ledger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609344"/>
            <a:ext cx="3995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event-driven credit accounting — tamper-resistant tracking of all earnings and spending across the platform.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212848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276856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Redis Leaderboard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" y="2560320"/>
            <a:ext cx="3995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real-time ranking using Redis sorted sets (ZADD/ZRANK). Handles 10,000+ concurrent users without lag.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163824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163824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22783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Hybrid Content Delivery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" y="3511296"/>
            <a:ext cx="3995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bitrate video streaming combined with structured notes viewer — optimised for low-bandwidth environments.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4114800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4114800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417880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PWA Architecture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" y="4462272"/>
            <a:ext cx="3995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— works on mobile &amp; desktop without app-store dependency. Offline-capable core features.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261872"/>
            <a:ext cx="3977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261872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325880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Pedagogical Shift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1609344"/>
            <a:ext cx="3813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learners become active contributors through credit incentive.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212848"/>
            <a:ext cx="3977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212848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276856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Institutional Memory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2560320"/>
            <a:ext cx="3813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&amp; notes persist beyond semester — searchable knowledge base.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163824"/>
            <a:ext cx="3977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163824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22783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Faculty Insights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64608" y="3511296"/>
            <a:ext cx="3813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metrics (views, downloads) reveal knowledge gaps for faculty.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4114800"/>
            <a:ext cx="3977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4114800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4178808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Peer-to-Peer Live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64608" y="4462272"/>
            <a:ext cx="3813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sessions reduce intimidation barrier of traditional teaching.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Collaboration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EduShare is genuinely transdisciplinary — each department made irreplaceable contributions.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416052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161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Computer Science &amp; Engg.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093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 (Next.js + Node.js)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deployment &amp; DevOps (Docker, CI/CD)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 (WebSocket, Socket.io)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5694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ledger &amp; session management logic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82312" y="1170432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170432"/>
            <a:ext cx="416052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2161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Information Science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3752" y="16093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(MongoDB, PostgreSQL)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73752" y="192938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indexing &amp; search architecture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73752" y="22494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for credits &amp; user profiles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3752" y="25694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 design (Redis sorted sets)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090672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090672"/>
            <a:ext cx="416052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363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Management Studies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2958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monetisation strategy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8496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&amp; feature prioritisation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1696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planning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48970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 design (freemium, licences)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82312" y="3090672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82312" y="3090672"/>
            <a:ext cx="41605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1363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UI/UX &amp; Economics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352958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&amp; user journey mapping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73752" y="38496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responsive design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73752" y="41696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 analysis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73752" y="448970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&amp; competitive landscape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How They Were Overcome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3774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88920" y="960120"/>
            <a:ext cx="20116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960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960120"/>
            <a:ext cx="37490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37160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Leaderboard Consistency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88920" y="137160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2072" y="137160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→ wrong rankings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1371600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371600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ZADD/ZRANK atomic ops — eliminated race conditions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84248"/>
            <a:ext cx="23774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98424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Economy Abuse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88920" y="1984248"/>
            <a:ext cx="201168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62072" y="198424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gaming credits without value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1984248"/>
            <a:ext cx="37490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1984248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quality checks, review flags for suspicious activity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59689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59689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Reliability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88920" y="2596896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62072" y="259689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drops disrupted sessions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596896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59689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Reconnection logic + Redis session-state persistence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209544"/>
            <a:ext cx="23774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209544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Cross-disciplinary Communication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88920" y="3209544"/>
            <a:ext cx="201168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62072" y="3209544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vocabulary &amp; priorities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3209544"/>
            <a:ext cx="37490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209544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cross-functional standups + shared Notion wiki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82219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82219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DevOps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88920" y="3822192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62072" y="382219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mismatch local ↔ AWS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92040" y="3822192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65192" y="382219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+ GitHub Actions CI/CD pipeline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4434840"/>
            <a:ext cx="23774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443484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Storage Costs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88920" y="4434840"/>
            <a:ext cx="201168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62072" y="44348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video storage expensive at scale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92040" y="4434840"/>
            <a:ext cx="37490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65192" y="4434840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CDN + adaptive bitrate streaming → 60% cost reduction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&amp; Growth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651760" cy="1691640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/ Credit Packs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653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base access; users buy credit bundles to accelerate progression and unlock premium features.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487168"/>
            <a:ext cx="8229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871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Volume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51760" cy="1691640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Licences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8653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pay subscription for white-labelled EduShare. Bundled analytics and admin dashboards.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487168"/>
            <a:ext cx="8229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4871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Value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51760" cy="1691640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Content Gating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8653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educators monetise content behind credit paywalls. Platform takes 20% revenue share.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487168"/>
            <a:ext cx="8229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4871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Scalable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00200" y="2880360"/>
            <a:ext cx="2651760" cy="1691640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0020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91640" y="3355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Badges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91640" y="37398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learning certificates for curated peer pathways — enhances student résumés.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91640" y="4361688"/>
            <a:ext cx="8229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4361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Brand Value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2880360"/>
            <a:ext cx="2651760" cy="1691640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8056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572000" y="3355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 Insights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37398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learning analytics sold to institutions for curriculum design and gap analysis.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4361688"/>
            <a:ext cx="8229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4361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B2B Revenue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Statistics — Credit Activity by Feature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earned per activity type — illustrating the most engaging content categories on EduShare.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143000"/>
          <a:ext cx="83210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188720"/>
            <a:ext cx="2194560" cy="6583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120700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Video Uploads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most credits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Statistics — Projected User Growth (Month-on-Month)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11480" y="960120"/>
          <a:ext cx="8321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4754880"/>
            <a:ext cx="19202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4791456"/>
            <a:ext cx="192024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6,000+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11480" y="4903013"/>
            <a:ext cx="1920240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Year-1 Users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68880" y="4754880"/>
            <a:ext cx="20116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68880" y="4791456"/>
            <a:ext cx="201168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468880" y="4903013"/>
            <a:ext cx="2011680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Active/Registered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Statistics — Content Type Distribution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11480" y="96012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88720"/>
            <a:ext cx="10972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70448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39712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Uploads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938528"/>
            <a:ext cx="109728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70448" y="1938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39712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/ PDFs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0" y="2688336"/>
            <a:ext cx="109728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26883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39712" y="2688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0" y="3438144"/>
            <a:ext cx="10972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70448" y="3438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39712" y="34381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0" y="4187952"/>
            <a:ext cx="109728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70448" y="4187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39712" y="4187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Statistics — Feasibility Score &amp; Competitive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11480" y="96012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960120"/>
            <a:ext cx="13716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0680" y="960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66560" y="960120"/>
            <a:ext cx="777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12280" y="9601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EduShare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43800" y="960120"/>
            <a:ext cx="77724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9601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321040" y="960120"/>
            <a:ext cx="77724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9601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1508760"/>
            <a:ext cx="13716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0680" y="1508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Credit Economy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66560" y="1508760"/>
            <a:ext cx="777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12280" y="15087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43800" y="1508760"/>
            <a:ext cx="777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15087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21040" y="1508760"/>
            <a:ext cx="777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6760" y="15087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94960" y="205740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068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Peer Sessions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766560" y="2057400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12280" y="2057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543800" y="2057400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0" y="2057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Paid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321040" y="2057400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66760" y="2057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394960" y="2606040"/>
            <a:ext cx="13716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40680" y="2606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Ranking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766560" y="2606040"/>
            <a:ext cx="777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12280" y="26060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43800" y="2606040"/>
            <a:ext cx="777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89520" y="26060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321040" y="2606040"/>
            <a:ext cx="777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66760" y="26060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394960" y="31546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40680" y="3154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Students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766560" y="3154680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12280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543800" y="3154680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89520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321040" y="3154680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366760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394960" y="3703320"/>
            <a:ext cx="13716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40680" y="3703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Deploy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766560" y="3703320"/>
            <a:ext cx="777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81228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7543800" y="3703320"/>
            <a:ext cx="777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58952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321040" y="3703320"/>
            <a:ext cx="777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36676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 &amp; Future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4023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Democratises Education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91056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student can learn from top peers — no cost barrier.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4023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212848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768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Culture of Sharing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42032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Incentivises knowledge sharing in academic communities.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163824"/>
            <a:ext cx="4023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163824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278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NEP 2020 Alignment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India's competency-based collaborative learning goals.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4114800"/>
            <a:ext cx="4023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4114800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788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Measurable Outcomes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443984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gain data-driven insights on student knowledge gaps.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1772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1261872"/>
            <a:ext cx="82296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261872"/>
            <a:ext cx="822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Q3 2025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0" y="1261872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77840" y="13350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Enhancement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16093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recommendations; mobile app (React Native)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2212848"/>
            <a:ext cx="82296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212848"/>
            <a:ext cx="822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Q4 2025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0" y="2212848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77840" y="22860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Pilots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 colleges; white-label deployment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3163824"/>
            <a:ext cx="82296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163824"/>
            <a:ext cx="822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Q1 2026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3163824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77840" y="32369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35112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packs, premium gating, institutional subscriptions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4114800"/>
            <a:ext cx="82296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4114800"/>
            <a:ext cx="822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Q2 2026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0" y="4114800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577840" y="41879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Expand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77840" y="44622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users; multi-language support; API marketplace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EduShare proves that peer learning, when properly incentivised and gamified, can transform education at scale.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344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810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 + AWS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70432"/>
            <a:ext cx="26517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344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Depts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1840" y="1810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Transdisciplinary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170432"/>
            <a:ext cx="2651760" cy="1115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2344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₹0–₹2k/mo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72200" y="1810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at MVP stage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395728"/>
            <a:ext cx="8321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9572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Working MVP is live and publicly accessible at edu-share-p2p.vercel.app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843784"/>
            <a:ext cx="8321040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4378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Transdisciplinary team from CS, IS, Management &amp; Economics — all contributing meaningfully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291840"/>
            <a:ext cx="8321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91840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Credit economy model creates sustainable, scalable peer learning incentives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3739896"/>
            <a:ext cx="8321040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39896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Technical architecture handles 10,000+ concurrent users via Redis &amp; AWS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4187952"/>
            <a:ext cx="8321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87952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Clear monetisation path: freemium, institutional licences, premium gating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4636008"/>
            <a:ext cx="8321040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36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Aligns with NEP 2020 and addresses real, measurable gaps in current EdTech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91840"/>
            <a:ext cx="2286000" cy="2286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answer your questions.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1148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76272"/>
            <a:ext cx="3931920" cy="603504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2128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Prabhat Kumar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47802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25MCAR0110 · MCA-GENERAL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176272"/>
            <a:ext cx="3931920" cy="603504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22128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Kesson Mariko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247802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25MCAR0234 · MCA-ISMS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3931920" cy="603504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2608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Kanishka 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19125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25MCR00050 · M.COM-IFA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9504"/>
            <a:ext cx="3931920" cy="603504"/>
          </a:xfrm>
          <a:prstGeom prst="rect">
            <a:avLst/>
          </a:prstGeom>
          <a:solidFill>
            <a:srgbClr val="1323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92608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19125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25MAR00047 · MA Economics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edu-share-p2p.vercel.app  |  Guided by: Dr Patcha Bhujanga Rao  |  Jain University 2025–27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EduShare – TD-PCL Project Presentation</dc:title>
  <dc:subject>PptxGenJS Presentation</dc:subject>
  <dc:creator>PptxGenJS</dc:creator>
  <cp:lastModifiedBy>PptxGenJS</cp:lastModifiedBy>
  <cp:revision>1</cp:revision>
  <dcterms:created xsi:type="dcterms:W3CDTF">2026-05-07T00:58:20Z</dcterms:created>
  <dcterms:modified xsi:type="dcterms:W3CDTF">2026-05-07T00:58:20Z</dcterms:modified>
</cp:coreProperties>
</file>